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c1c7c1256_3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c1c7c1256_3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c1c7c1256_3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c1c7c1256_3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1c7c125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c1c7c12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c1c7c12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c1c7c12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1c7c1256_3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c1c7c1256_3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c1c7c1256_3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c1c7c1256_3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1c7c1256_3_1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c1c7c1256_3_1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c32f1b57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c32f1b57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1c7c1256_28_0)">
  <p:cSld name="Generated (g3ec1c7c1256_28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ean, high-tech background with abstract code lines, digital nodes, and connections, symbolizing software analysis and automated repair. Professional and minimalist style."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571500" y="2286000"/>
            <a:ext cx="5715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571500" y="11430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7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Slicing for Automated Program Repair Context</a:t>
            </a:r>
            <a:endParaRPr b="1" sz="357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24765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Project R1 </a:t>
            </a:r>
            <a:endParaRPr b="0" sz="18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571500" y="4191000"/>
            <a:ext cx="1714500" cy="381000"/>
            <a:chOff x="0" y="0"/>
            <a:chExt cx="1714500" cy="381000"/>
          </a:xfrm>
        </p:grpSpPr>
        <p:sp>
          <p:nvSpPr>
            <p:cNvPr id="60" name="Google Shape;60;p14"/>
            <p:cNvSpPr/>
            <p:nvPr/>
          </p:nvSpPr>
          <p:spPr>
            <a:xfrm>
              <a:off x="0" y="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0" y="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Software Engineering</a:t>
              </a:r>
              <a:endPara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14"/>
          <p:cNvSpPr txBox="1"/>
          <p:nvPr/>
        </p:nvSpPr>
        <p:spPr>
          <a:xfrm>
            <a:off x="515325" y="3023425"/>
            <a:ext cx="46185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Akash Silas Nesakumar - 1751388</a:t>
            </a:r>
            <a:br>
              <a:rPr lang="en" sz="1600">
                <a:solidFill>
                  <a:schemeClr val="dk2"/>
                </a:solidFill>
              </a:rPr>
            </a:br>
            <a:r>
              <a:rPr lang="en" sz="1600">
                <a:solidFill>
                  <a:schemeClr val="dk2"/>
                </a:solidFill>
              </a:rPr>
              <a:t>Avnish Raut - 1751366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Son Thien Nyugen - 1751364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945200" y="4194850"/>
            <a:ext cx="3325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Supervised by Adam Krafczyk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95250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81000" y="23812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Goal</a:t>
            </a:r>
            <a:endParaRPr b="1" sz="24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381000" y="1333500"/>
            <a:ext cx="4000500" cy="3238500"/>
            <a:chOff x="0" y="0"/>
            <a:chExt cx="4000500" cy="323850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238125" y="23812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Problem: LLM Bottlenecks</a:t>
              </a:r>
              <a:endParaRPr b="1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238125" y="762000"/>
              <a:ext cx="3524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Automated Program Repair (APR) using LLMs is severely bottlenecked by limited context windows.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Enterprise Java classes are typically too large for direct processing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meaning the complete code does not fit into the prompt.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Triggers LLM hallucination and the "Lost in the Middle" syndrome where critical faults are ignored.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4762500" y="1333500"/>
            <a:ext cx="4000500" cy="3238500"/>
            <a:chOff x="0" y="0"/>
            <a:chExt cx="4000500" cy="32385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238125" y="23812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Solution: </a:t>
              </a:r>
              <a:r>
                <a:rPr b="1" lang="en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Slicing</a:t>
              </a:r>
              <a:endParaRPr b="1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238125" y="762000"/>
              <a:ext cx="3524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Utilize program slicers as a rigorous filter to analyze code based on a given criterion.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Convert failing test cases directly into slicing criteria to extract only the subset of source code that computationally affects the bug.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Goal: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Evaluate how well slicers can reduce the source code size in an APR setting while preserving the relevant information needed to fix the bug.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9" name="Google Shape;79;p15"/>
          <p:cNvSpPr/>
          <p:nvPr/>
        </p:nvSpPr>
        <p:spPr>
          <a:xfrm>
            <a:off x="4429125" y="2905125"/>
            <a:ext cx="381000" cy="142800"/>
          </a:xfrm>
          <a:custGeom>
            <a:rect b="b" l="l" r="r" t="t"/>
            <a:pathLst>
              <a:path extrusionOk="0" h="120000" w="120000">
                <a:moveTo>
                  <a:pt x="0" y="40000"/>
                </a:moveTo>
                <a:lnTo>
                  <a:pt x="90000" y="40000"/>
                </a:lnTo>
                <a:lnTo>
                  <a:pt x="90000" y="0"/>
                </a:lnTo>
                <a:lnTo>
                  <a:pt x="120000" y="60000"/>
                </a:lnTo>
                <a:lnTo>
                  <a:pt x="90000" y="120000"/>
                </a:lnTo>
                <a:lnTo>
                  <a:pt x="90000" y="80000"/>
                </a:lnTo>
                <a:lnTo>
                  <a:pt x="0" y="8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b="1"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 Set A: Comparing Multiple Slicers</a:t>
            </a: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RQ1: Slice Size: How do static slicing vs. dynamic slicing compare in terms of code reduction on Defects4J bugs?</a:t>
            </a: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RQ2: Fault Coverage: Which technique yields the highest rate of slices containing the actual bug-fix lines? Does static or dynamic slicing better preserve faults compared to static slicing?</a:t>
            </a: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RQ3: Performance: How do slicing runtimes compare? For example, Static vs Dynamic</a:t>
            </a: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358"/>
              <a:buFont typeface="Arial"/>
              <a:buNone/>
            </a:pPr>
            <a:r>
              <a:rPr b="1" lang="en" sz="2650"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b="1"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 Set B: Single-Slicer: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RQ1: Slicing Criterion: How does choosing different slicing criteria  affect slice size and fault coverage?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RQ2: Fault Coverage: Which technique yields the highest rate of slices containing the actual bug-fix lines?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RQ3: Call Graph Precision: If using Soot, what if we switch call-graph algorithms? Does a more precise call graph significantly reduce slice size or change fault coverage?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RQ4: Slice Size: How much of code reduction is possible keeping the context to maximum?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: RQ set yet to be decided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0" y="95250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81000" y="23812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</a:t>
            </a:r>
            <a:endParaRPr b="1" sz="24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9" name="Google Shape;99;p18"/>
          <p:cNvGrpSpPr/>
          <p:nvPr/>
        </p:nvGrpSpPr>
        <p:grpSpPr>
          <a:xfrm>
            <a:off x="381000" y="1238250"/>
            <a:ext cx="2571900" cy="1524000"/>
            <a:chOff x="0" y="0"/>
            <a:chExt cx="2571900" cy="1524000"/>
          </a:xfrm>
        </p:grpSpPr>
        <p:sp>
          <p:nvSpPr>
            <p:cNvPr id="100" name="Google Shape;100;p18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8"/>
            <p:cNvSpPr txBox="1"/>
            <p:nvPr/>
          </p:nvSpPr>
          <p:spPr>
            <a:xfrm>
              <a:off x="190500" y="1905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01. Study Design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Controlled technical experiment prioritizing pipeline robustness.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2" name="Google Shape;102;p18"/>
          <p:cNvGrpSpPr/>
          <p:nvPr/>
        </p:nvGrpSpPr>
        <p:grpSpPr>
          <a:xfrm>
            <a:off x="3286125" y="1238250"/>
            <a:ext cx="2571900" cy="1524000"/>
            <a:chOff x="0" y="0"/>
            <a:chExt cx="2571900" cy="1524000"/>
          </a:xfrm>
        </p:grpSpPr>
        <p:sp>
          <p:nvSpPr>
            <p:cNvPr id="103" name="Google Shape;103;p18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" name="Google Shape;104;p18"/>
            <p:cNvSpPr txBox="1"/>
            <p:nvPr/>
          </p:nvSpPr>
          <p:spPr>
            <a:xfrm>
              <a:off x="190500" y="1905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02. Dataset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Defects4J v2.0.0 (Java 8 environment).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Defects4J (Java 11 environment)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5" name="Google Shape;105;p18"/>
          <p:cNvGrpSpPr/>
          <p:nvPr/>
        </p:nvGrpSpPr>
        <p:grpSpPr>
          <a:xfrm>
            <a:off x="6191250" y="1238250"/>
            <a:ext cx="2571900" cy="1524000"/>
            <a:chOff x="0" y="0"/>
            <a:chExt cx="2571900" cy="1524000"/>
          </a:xfrm>
        </p:grpSpPr>
        <p:sp>
          <p:nvSpPr>
            <p:cNvPr id="106" name="Google Shape;106;p18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18"/>
            <p:cNvSpPr txBox="1"/>
            <p:nvPr/>
          </p:nvSpPr>
          <p:spPr>
            <a:xfrm>
              <a:off x="190500" y="1905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03. Independent Variable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 Java source code vs. Reduced context via 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slicer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(Static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Dynamic Analysis).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8" name="Google Shape;108;p18"/>
          <p:cNvGrpSpPr/>
          <p:nvPr/>
        </p:nvGrpSpPr>
        <p:grpSpPr>
          <a:xfrm>
            <a:off x="381000" y="3048000"/>
            <a:ext cx="4048200" cy="1524000"/>
            <a:chOff x="0" y="0"/>
            <a:chExt cx="4048200" cy="1524000"/>
          </a:xfrm>
        </p:grpSpPr>
        <p:sp>
          <p:nvSpPr>
            <p:cNvPr id="109" name="Google Shape;109;p18"/>
            <p:cNvSpPr/>
            <p:nvPr/>
          </p:nvSpPr>
          <p:spPr>
            <a:xfrm>
              <a:off x="0" y="0"/>
              <a:ext cx="40482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18"/>
            <p:cNvSpPr txBox="1"/>
            <p:nvPr/>
          </p:nvSpPr>
          <p:spPr>
            <a:xfrm>
              <a:off x="190500" y="190500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04. Dependent Variables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Context Reduction Metric (LOC) &amp; Patch Retention (Boolean check).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1" name="Google Shape;111;p18"/>
          <p:cNvGrpSpPr/>
          <p:nvPr/>
        </p:nvGrpSpPr>
        <p:grpSpPr>
          <a:xfrm>
            <a:off x="4714875" y="3048000"/>
            <a:ext cx="4048200" cy="1524000"/>
            <a:chOff x="0" y="0"/>
            <a:chExt cx="4048200" cy="1524000"/>
          </a:xfrm>
        </p:grpSpPr>
        <p:sp>
          <p:nvSpPr>
            <p:cNvPr id="112" name="Google Shape;112;p18"/>
            <p:cNvSpPr/>
            <p:nvPr/>
          </p:nvSpPr>
          <p:spPr>
            <a:xfrm>
              <a:off x="0" y="0"/>
              <a:ext cx="40482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18"/>
            <p:cNvSpPr txBox="1"/>
            <p:nvPr/>
          </p:nvSpPr>
          <p:spPr>
            <a:xfrm>
              <a:off x="190500" y="190500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05. Execution and Evaluation</a:t>
              </a:r>
              <a:endParaRPr b="1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Automated bridge translating JUnit failures directly into 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slicer’s</a:t>
              </a:r>
              <a:r>
                <a:rPr lang="en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criteria.</a:t>
              </a:r>
              <a:endParaRPr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0" y="95250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81000" y="23812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Timeline: Research &amp; Execution</a:t>
            </a:r>
            <a:endParaRPr b="1" sz="24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2" name="Google Shape;122;p19"/>
          <p:cNvGrpSpPr/>
          <p:nvPr/>
        </p:nvGrpSpPr>
        <p:grpSpPr>
          <a:xfrm>
            <a:off x="447500" y="1200075"/>
            <a:ext cx="8903375" cy="3524400"/>
            <a:chOff x="0" y="0"/>
            <a:chExt cx="8903375" cy="3524400"/>
          </a:xfrm>
        </p:grpSpPr>
        <p:sp>
          <p:nvSpPr>
            <p:cNvPr id="123" name="Google Shape;123;p19"/>
            <p:cNvSpPr/>
            <p:nvPr/>
          </p:nvSpPr>
          <p:spPr>
            <a:xfrm>
              <a:off x="0" y="0"/>
              <a:ext cx="8382000" cy="2859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4" name="Google Shape;124;p19"/>
            <p:cNvGrpSpPr/>
            <p:nvPr/>
          </p:nvGrpSpPr>
          <p:grpSpPr>
            <a:xfrm>
              <a:off x="1905000" y="0"/>
              <a:ext cx="6486600" cy="3524400"/>
              <a:chOff x="0" y="0"/>
              <a:chExt cx="6486600" cy="3524400"/>
            </a:xfrm>
          </p:grpSpPr>
          <p:sp>
            <p:nvSpPr>
              <p:cNvPr id="125" name="Google Shape;125;p19"/>
              <p:cNvSpPr/>
              <p:nvPr/>
            </p:nvSpPr>
            <p:spPr>
              <a:xfrm>
                <a:off x="0" y="0"/>
                <a:ext cx="9600" cy="3524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9"/>
              <p:cNvSpPr/>
              <p:nvPr/>
            </p:nvSpPr>
            <p:spPr>
              <a:xfrm>
                <a:off x="1333500" y="0"/>
                <a:ext cx="9600" cy="3524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9"/>
              <p:cNvSpPr/>
              <p:nvPr/>
            </p:nvSpPr>
            <p:spPr>
              <a:xfrm>
                <a:off x="2667000" y="0"/>
                <a:ext cx="9600" cy="3524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9"/>
              <p:cNvSpPr/>
              <p:nvPr/>
            </p:nvSpPr>
            <p:spPr>
              <a:xfrm>
                <a:off x="4000500" y="0"/>
                <a:ext cx="9600" cy="3524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9"/>
              <p:cNvSpPr/>
              <p:nvPr/>
            </p:nvSpPr>
            <p:spPr>
              <a:xfrm>
                <a:off x="5334000" y="0"/>
                <a:ext cx="9600" cy="3524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" name="Google Shape;130;p19"/>
              <p:cNvSpPr/>
              <p:nvPr/>
            </p:nvSpPr>
            <p:spPr>
              <a:xfrm>
                <a:off x="6477000" y="0"/>
                <a:ext cx="9600" cy="3524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" name="Google Shape;131;p19"/>
              <p:cNvSpPr txBox="1"/>
              <p:nvPr/>
            </p:nvSpPr>
            <p:spPr>
              <a:xfrm>
                <a:off x="0" y="0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JUNE / JULY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" name="Google Shape;132;p19"/>
              <p:cNvSpPr txBox="1"/>
              <p:nvPr/>
            </p:nvSpPr>
            <p:spPr>
              <a:xfrm>
                <a:off x="1333500" y="0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AUGUST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" name="Google Shape;133;p19"/>
              <p:cNvSpPr txBox="1"/>
              <p:nvPr/>
            </p:nvSpPr>
            <p:spPr>
              <a:xfrm>
                <a:off x="2667000" y="0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SEPTEMBER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" name="Google Shape;134;p19"/>
              <p:cNvSpPr txBox="1"/>
              <p:nvPr/>
            </p:nvSpPr>
            <p:spPr>
              <a:xfrm>
                <a:off x="4000500" y="0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OCTOBER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" name="Google Shape;135;p19"/>
              <p:cNvSpPr txBox="1"/>
              <p:nvPr/>
            </p:nvSpPr>
            <p:spPr>
              <a:xfrm>
                <a:off x="5334000" y="0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NOVEMBER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6" name="Google Shape;136;p19"/>
            <p:cNvGrpSpPr/>
            <p:nvPr/>
          </p:nvGrpSpPr>
          <p:grpSpPr>
            <a:xfrm>
              <a:off x="0" y="428625"/>
              <a:ext cx="2857500" cy="352350"/>
              <a:chOff x="0" y="0"/>
              <a:chExt cx="2857500" cy="352350"/>
            </a:xfrm>
          </p:grpSpPr>
          <p:sp>
            <p:nvSpPr>
              <p:cNvPr id="137" name="Google Shape;137;p19"/>
              <p:cNvSpPr txBox="1"/>
              <p:nvPr/>
            </p:nvSpPr>
            <p:spPr>
              <a:xfrm>
                <a:off x="0" y="0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Literature Review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" name="Google Shape;138;p19"/>
              <p:cNvSpPr/>
              <p:nvPr/>
            </p:nvSpPr>
            <p:spPr>
              <a:xfrm>
                <a:off x="1905000" y="0"/>
                <a:ext cx="3810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" name="Google Shape;139;p19"/>
              <p:cNvSpPr txBox="1"/>
              <p:nvPr/>
            </p:nvSpPr>
            <p:spPr>
              <a:xfrm>
                <a:off x="1905000" y="209550"/>
                <a:ext cx="952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>
                    <a:solidFill>
                      <a:srgbClr val="94A3B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22 Jun - 04 Jul</a:t>
                </a:r>
                <a:endParaRPr sz="74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0" name="Google Shape;140;p19"/>
            <p:cNvGrpSpPr/>
            <p:nvPr/>
          </p:nvGrpSpPr>
          <p:grpSpPr>
            <a:xfrm>
              <a:off x="0" y="762000"/>
              <a:ext cx="3248100" cy="376275"/>
              <a:chOff x="0" y="0"/>
              <a:chExt cx="3248100" cy="376275"/>
            </a:xfrm>
          </p:grpSpPr>
          <p:sp>
            <p:nvSpPr>
              <p:cNvPr id="141" name="Google Shape;141;p19"/>
              <p:cNvSpPr txBox="1"/>
              <p:nvPr/>
            </p:nvSpPr>
            <p:spPr>
              <a:xfrm>
                <a:off x="0" y="0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Approach Research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2295600" y="23925"/>
                <a:ext cx="3810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" name="Google Shape;143;p19"/>
              <p:cNvSpPr txBox="1"/>
              <p:nvPr/>
            </p:nvSpPr>
            <p:spPr>
              <a:xfrm>
                <a:off x="2295600" y="233475"/>
                <a:ext cx="952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>
                    <a:solidFill>
                      <a:srgbClr val="94A3B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29 Jun - 11 Jul</a:t>
                </a:r>
                <a:endParaRPr sz="74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4" name="Google Shape;144;p19"/>
            <p:cNvGrpSpPr/>
            <p:nvPr/>
          </p:nvGrpSpPr>
          <p:grpSpPr>
            <a:xfrm>
              <a:off x="0" y="1133500"/>
              <a:ext cx="3504000" cy="352350"/>
              <a:chOff x="0" y="38125"/>
              <a:chExt cx="3504000" cy="352350"/>
            </a:xfrm>
          </p:grpSpPr>
          <p:sp>
            <p:nvSpPr>
              <p:cNvPr id="145" name="Google Shape;145;p19"/>
              <p:cNvSpPr txBox="1"/>
              <p:nvPr/>
            </p:nvSpPr>
            <p:spPr>
              <a:xfrm>
                <a:off x="0" y="38125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Defects4j Selection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2551500" y="38125"/>
                <a:ext cx="3810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7" name="Google Shape;147;p19"/>
              <p:cNvSpPr txBox="1"/>
              <p:nvPr/>
            </p:nvSpPr>
            <p:spPr>
              <a:xfrm>
                <a:off x="2551500" y="247675"/>
                <a:ext cx="952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>
                    <a:solidFill>
                      <a:srgbClr val="94A3B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06 Jul - 18 Jul</a:t>
                </a:r>
                <a:endParaRPr sz="74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8" name="Google Shape;148;p19"/>
            <p:cNvGrpSpPr/>
            <p:nvPr/>
          </p:nvGrpSpPr>
          <p:grpSpPr>
            <a:xfrm>
              <a:off x="0" y="1486138"/>
              <a:ext cx="3866250" cy="352350"/>
              <a:chOff x="0" y="57388"/>
              <a:chExt cx="3866250" cy="352350"/>
            </a:xfrm>
          </p:grpSpPr>
          <p:sp>
            <p:nvSpPr>
              <p:cNvPr id="149" name="Google Shape;149;p19"/>
              <p:cNvSpPr txBox="1"/>
              <p:nvPr/>
            </p:nvSpPr>
            <p:spPr>
              <a:xfrm>
                <a:off x="0" y="57388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Strategy &amp; Deciding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0" name="Google Shape;150;p19"/>
              <p:cNvSpPr/>
              <p:nvPr/>
            </p:nvSpPr>
            <p:spPr>
              <a:xfrm>
                <a:off x="2913750" y="57388"/>
                <a:ext cx="4764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1" name="Google Shape;151;p19"/>
              <p:cNvSpPr txBox="1"/>
              <p:nvPr/>
            </p:nvSpPr>
            <p:spPr>
              <a:xfrm>
                <a:off x="2913750" y="266938"/>
                <a:ext cx="952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>
                    <a:solidFill>
                      <a:srgbClr val="94A3B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20 Jul - 07 Aug</a:t>
                </a:r>
                <a:endParaRPr sz="74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2" name="Google Shape;152;p19"/>
            <p:cNvGrpSpPr/>
            <p:nvPr/>
          </p:nvGrpSpPr>
          <p:grpSpPr>
            <a:xfrm>
              <a:off x="0" y="1876900"/>
              <a:ext cx="6374600" cy="352350"/>
              <a:chOff x="0" y="114775"/>
              <a:chExt cx="6374600" cy="352350"/>
            </a:xfrm>
          </p:grpSpPr>
          <p:sp>
            <p:nvSpPr>
              <p:cNvPr id="153" name="Google Shape;153;p19"/>
              <p:cNvSpPr txBox="1"/>
              <p:nvPr/>
            </p:nvSpPr>
            <p:spPr>
              <a:xfrm>
                <a:off x="0" y="163975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Parallel Analysis</a:t>
                </a:r>
                <a:endParaRPr b="1"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3589100" y="114775"/>
                <a:ext cx="27855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" name="Google Shape;155;p19"/>
              <p:cNvSpPr txBox="1"/>
              <p:nvPr/>
            </p:nvSpPr>
            <p:spPr>
              <a:xfrm>
                <a:off x="3589100" y="324325"/>
                <a:ext cx="1905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>
                    <a:solidFill>
                      <a:srgbClr val="94A3B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 Aug - 10 Oct [Run, Slicing, Benchmarking]</a:t>
                </a:r>
                <a:endParaRPr sz="74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6" name="Google Shape;156;p19"/>
            <p:cNvGrpSpPr/>
            <p:nvPr/>
          </p:nvGrpSpPr>
          <p:grpSpPr>
            <a:xfrm>
              <a:off x="0" y="2571750"/>
              <a:ext cx="7572375" cy="371325"/>
              <a:chOff x="0" y="0"/>
              <a:chExt cx="7572375" cy="371325"/>
            </a:xfrm>
          </p:grpSpPr>
          <p:sp>
            <p:nvSpPr>
              <p:cNvPr id="157" name="Google Shape;157;p19"/>
              <p:cNvSpPr txBox="1"/>
              <p:nvPr/>
            </p:nvSpPr>
            <p:spPr>
              <a:xfrm>
                <a:off x="0" y="0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Evaluate Results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>
                <a:off x="6619875" y="18975"/>
                <a:ext cx="5715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" name="Google Shape;159;p19"/>
              <p:cNvSpPr txBox="1"/>
              <p:nvPr/>
            </p:nvSpPr>
            <p:spPr>
              <a:xfrm>
                <a:off x="6619875" y="228525"/>
                <a:ext cx="952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>
                    <a:solidFill>
                      <a:srgbClr val="94A3B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12 Oct - 31 Oct</a:t>
                </a:r>
                <a:endParaRPr sz="74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0" name="Google Shape;160;p19"/>
            <p:cNvGrpSpPr/>
            <p:nvPr/>
          </p:nvGrpSpPr>
          <p:grpSpPr>
            <a:xfrm>
              <a:off x="0" y="2886150"/>
              <a:ext cx="8191500" cy="352350"/>
              <a:chOff x="0" y="-18975"/>
              <a:chExt cx="8191500" cy="352350"/>
            </a:xfrm>
          </p:grpSpPr>
          <p:sp>
            <p:nvSpPr>
              <p:cNvPr id="161" name="Google Shape;161;p19"/>
              <p:cNvSpPr txBox="1"/>
              <p:nvPr/>
            </p:nvSpPr>
            <p:spPr>
              <a:xfrm>
                <a:off x="0" y="0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Research Paper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>
                <a:off x="7239000" y="-18975"/>
                <a:ext cx="4287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" name="Google Shape;163;p19"/>
              <p:cNvSpPr txBox="1"/>
              <p:nvPr/>
            </p:nvSpPr>
            <p:spPr>
              <a:xfrm>
                <a:off x="7239000" y="190575"/>
                <a:ext cx="952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>
                    <a:solidFill>
                      <a:srgbClr val="94A3B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 Nov - 15 Nov</a:t>
                </a:r>
                <a:endParaRPr sz="74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4" name="Google Shape;164;p19"/>
            <p:cNvGrpSpPr/>
            <p:nvPr/>
          </p:nvGrpSpPr>
          <p:grpSpPr>
            <a:xfrm>
              <a:off x="0" y="3211175"/>
              <a:ext cx="8903375" cy="217825"/>
              <a:chOff x="0" y="-27325"/>
              <a:chExt cx="8903375" cy="217825"/>
            </a:xfrm>
          </p:grpSpPr>
          <p:sp>
            <p:nvSpPr>
              <p:cNvPr id="165" name="Google Shape;165;p19"/>
              <p:cNvSpPr txBox="1"/>
              <p:nvPr/>
            </p:nvSpPr>
            <p:spPr>
              <a:xfrm>
                <a:off x="0" y="0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Artifact Submission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>
                <a:off x="7798475" y="10775"/>
                <a:ext cx="114300" cy="114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7" name="Google Shape;167;p19"/>
              <p:cNvSpPr txBox="1"/>
              <p:nvPr/>
            </p:nvSpPr>
            <p:spPr>
              <a:xfrm>
                <a:off x="7950875" y="-27325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F444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20 Nov</a:t>
                </a:r>
                <a:endParaRPr b="1" sz="1000">
                  <a:solidFill>
                    <a:srgbClr val="EF444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0" y="-54175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0" y="95250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381000" y="23812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Effort Distribution Analysis</a:t>
            </a:r>
            <a:endParaRPr b="1" sz="24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381000" y="1143000"/>
            <a:ext cx="6953250" cy="285900"/>
            <a:chOff x="0" y="0"/>
            <a:chExt cx="6953250" cy="285900"/>
          </a:xfrm>
        </p:grpSpPr>
        <p:sp>
          <p:nvSpPr>
            <p:cNvPr id="177" name="Google Shape;177;p20"/>
            <p:cNvSpPr/>
            <p:nvPr/>
          </p:nvSpPr>
          <p:spPr>
            <a:xfrm>
              <a:off x="0" y="0"/>
              <a:ext cx="2667000" cy="2859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0" y="0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Task</a:t>
              </a:r>
              <a:endParaRPr b="1" sz="10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p20"/>
            <p:cNvGrpSpPr/>
            <p:nvPr/>
          </p:nvGrpSpPr>
          <p:grpSpPr>
            <a:xfrm>
              <a:off x="2762250" y="0"/>
              <a:ext cx="1333500" cy="285900"/>
              <a:chOff x="0" y="0"/>
              <a:chExt cx="1333500" cy="2859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0" y="0"/>
                <a:ext cx="13335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0"/>
              <p:cNvSpPr txBox="1"/>
              <p:nvPr/>
            </p:nvSpPr>
            <p:spPr>
              <a:xfrm>
                <a:off x="0" y="0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Akash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2" name="Google Shape;182;p20"/>
            <p:cNvGrpSpPr/>
            <p:nvPr/>
          </p:nvGrpSpPr>
          <p:grpSpPr>
            <a:xfrm>
              <a:off x="4191000" y="0"/>
              <a:ext cx="1333500" cy="285900"/>
              <a:chOff x="0" y="0"/>
              <a:chExt cx="1333500" cy="285900"/>
            </a:xfrm>
          </p:grpSpPr>
          <p:sp>
            <p:nvSpPr>
              <p:cNvPr id="183" name="Google Shape;183;p20"/>
              <p:cNvSpPr/>
              <p:nvPr/>
            </p:nvSpPr>
            <p:spPr>
              <a:xfrm>
                <a:off x="0" y="0"/>
                <a:ext cx="13335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0" y="0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Son Thien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5" name="Google Shape;185;p20"/>
            <p:cNvGrpSpPr/>
            <p:nvPr/>
          </p:nvGrpSpPr>
          <p:grpSpPr>
            <a:xfrm>
              <a:off x="5619750" y="0"/>
              <a:ext cx="1333500" cy="285900"/>
              <a:chOff x="0" y="0"/>
              <a:chExt cx="1333500" cy="285900"/>
            </a:xfrm>
          </p:grpSpPr>
          <p:sp>
            <p:nvSpPr>
              <p:cNvPr id="186" name="Google Shape;186;p20"/>
              <p:cNvSpPr/>
              <p:nvPr/>
            </p:nvSpPr>
            <p:spPr>
              <a:xfrm>
                <a:off x="0" y="0"/>
                <a:ext cx="13335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0"/>
              <p:cNvSpPr txBox="1"/>
              <p:nvPr/>
            </p:nvSpPr>
            <p:spPr>
              <a:xfrm>
                <a:off x="0" y="0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Avnish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88" name="Google Shape;188;p20"/>
          <p:cNvGrpSpPr/>
          <p:nvPr/>
        </p:nvGrpSpPr>
        <p:grpSpPr>
          <a:xfrm>
            <a:off x="381000" y="1476375"/>
            <a:ext cx="6955800" cy="3455300"/>
            <a:chOff x="0" y="0"/>
            <a:chExt cx="6955800" cy="3455300"/>
          </a:xfrm>
        </p:grpSpPr>
        <p:grpSp>
          <p:nvGrpSpPr>
            <p:cNvPr id="189" name="Google Shape;189;p20"/>
            <p:cNvGrpSpPr/>
            <p:nvPr/>
          </p:nvGrpSpPr>
          <p:grpSpPr>
            <a:xfrm>
              <a:off x="0" y="0"/>
              <a:ext cx="6953250" cy="333300"/>
              <a:chOff x="0" y="0"/>
              <a:chExt cx="6953250" cy="333300"/>
            </a:xfrm>
          </p:grpSpPr>
          <p:sp>
            <p:nvSpPr>
              <p:cNvPr id="190" name="Google Shape;190;p20"/>
              <p:cNvSpPr txBox="1"/>
              <p:nvPr/>
            </p:nvSpPr>
            <p:spPr>
              <a:xfrm>
                <a:off x="0" y="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Literature Review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p20"/>
              <p:cNvSpPr txBox="1"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12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p20"/>
              <p:cNvSpPr txBox="1"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p20"/>
              <p:cNvSpPr txBox="1"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7" name="Google Shape;197;p20"/>
            <p:cNvGrpSpPr/>
            <p:nvPr/>
          </p:nvGrpSpPr>
          <p:grpSpPr>
            <a:xfrm>
              <a:off x="0" y="361950"/>
              <a:ext cx="6953250" cy="333300"/>
              <a:chOff x="0" y="0"/>
              <a:chExt cx="6953250" cy="333300"/>
            </a:xfrm>
          </p:grpSpPr>
          <p:sp>
            <p:nvSpPr>
              <p:cNvPr id="198" name="Google Shape;198;p20"/>
              <p:cNvSpPr txBox="1"/>
              <p:nvPr/>
            </p:nvSpPr>
            <p:spPr>
              <a:xfrm>
                <a:off x="0" y="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Research of approaches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solidFill>
                <a:srgbClr val="BFDB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26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solidFill>
                <a:srgbClr val="93C5F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p20"/>
              <p:cNvSpPr txBox="1"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30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p20"/>
              <p:cNvSpPr txBox="1"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20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5" name="Google Shape;205;p20"/>
            <p:cNvGrpSpPr/>
            <p:nvPr/>
          </p:nvGrpSpPr>
          <p:grpSpPr>
            <a:xfrm>
              <a:off x="0" y="723900"/>
              <a:ext cx="6953250" cy="695238"/>
              <a:chOff x="0" y="0"/>
              <a:chExt cx="6953250" cy="695238"/>
            </a:xfrm>
          </p:grpSpPr>
          <p:sp>
            <p:nvSpPr>
              <p:cNvPr id="206" name="Google Shape;206;p20"/>
              <p:cNvSpPr txBox="1"/>
              <p:nvPr/>
            </p:nvSpPr>
            <p:spPr>
              <a:xfrm>
                <a:off x="0" y="361938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Proper setup for Defects4j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p20"/>
              <p:cNvSpPr txBox="1"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13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p20"/>
              <p:cNvSpPr txBox="1"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20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p20"/>
              <p:cNvSpPr txBox="1"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0" y="723900"/>
              <a:ext cx="6953250" cy="695250"/>
              <a:chOff x="0" y="-361950"/>
              <a:chExt cx="6953250" cy="695250"/>
            </a:xfrm>
          </p:grpSpPr>
          <p:sp>
            <p:nvSpPr>
              <p:cNvPr id="214" name="Google Shape;214;p20"/>
              <p:cNvSpPr txBox="1"/>
              <p:nvPr/>
            </p:nvSpPr>
            <p:spPr>
              <a:xfrm>
                <a:off x="0" y="-36195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Research on Defects4j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solidFill>
                <a:srgbClr val="BFDB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6" name="Google Shape;216;p20"/>
              <p:cNvSpPr txBox="1"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25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" name="Google Shape;218;p20"/>
              <p:cNvSpPr txBox="1"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20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solidFill>
                <a:srgbClr val="BFDB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" name="Google Shape;220;p20"/>
              <p:cNvSpPr txBox="1"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23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1" name="Google Shape;221;p20"/>
            <p:cNvGrpSpPr/>
            <p:nvPr/>
          </p:nvGrpSpPr>
          <p:grpSpPr>
            <a:xfrm>
              <a:off x="0" y="1447800"/>
              <a:ext cx="6953250" cy="333300"/>
              <a:chOff x="0" y="0"/>
              <a:chExt cx="6953250" cy="333300"/>
            </a:xfrm>
          </p:grpSpPr>
          <p:sp>
            <p:nvSpPr>
              <p:cNvPr id="222" name="Google Shape;222;p20"/>
              <p:cNvSpPr txBox="1"/>
              <p:nvPr/>
            </p:nvSpPr>
            <p:spPr>
              <a:xfrm>
                <a:off x="0" y="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Deciding on approaches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4" name="Google Shape;224;p20"/>
              <p:cNvSpPr txBox="1"/>
              <p:nvPr/>
            </p:nvSpPr>
            <p:spPr>
              <a:xfrm>
                <a:off x="27622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16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6" name="Google Shape;226;p20"/>
              <p:cNvSpPr txBox="1"/>
              <p:nvPr/>
            </p:nvSpPr>
            <p:spPr>
              <a:xfrm>
                <a:off x="419100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8" name="Google Shape;228;p20"/>
              <p:cNvSpPr txBox="1"/>
              <p:nvPr/>
            </p:nvSpPr>
            <p:spPr>
              <a:xfrm>
                <a:off x="5619750" y="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14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9" name="Google Shape;229;p20"/>
            <p:cNvGrpSpPr/>
            <p:nvPr/>
          </p:nvGrpSpPr>
          <p:grpSpPr>
            <a:xfrm>
              <a:off x="25" y="2192300"/>
              <a:ext cx="6953225" cy="362950"/>
              <a:chOff x="25" y="382550"/>
              <a:chExt cx="6953225" cy="362950"/>
            </a:xfrm>
          </p:grpSpPr>
          <p:sp>
            <p:nvSpPr>
              <p:cNvPr id="230" name="Google Shape;230;p20"/>
              <p:cNvSpPr txBox="1"/>
              <p:nvPr/>
            </p:nvSpPr>
            <p:spPr>
              <a:xfrm>
                <a:off x="25" y="41220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Perform Analysis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1" name="Google Shape;231;p20"/>
              <p:cNvSpPr/>
              <p:nvPr/>
            </p:nvSpPr>
            <p:spPr>
              <a:xfrm>
                <a:off x="2762263" y="383900"/>
                <a:ext cx="1333500" cy="33330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" name="Google Shape;232;p20"/>
              <p:cNvSpPr txBox="1"/>
              <p:nvPr/>
            </p:nvSpPr>
            <p:spPr>
              <a:xfrm>
                <a:off x="2762250" y="41220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80</a:t>
                </a:r>
                <a:endParaRPr b="1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" name="Google Shape;233;p20"/>
              <p:cNvSpPr/>
              <p:nvPr/>
            </p:nvSpPr>
            <p:spPr>
              <a:xfrm>
                <a:off x="4191000" y="382550"/>
                <a:ext cx="1333500" cy="3333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4" name="Google Shape;234;p20"/>
              <p:cNvSpPr txBox="1"/>
              <p:nvPr/>
            </p:nvSpPr>
            <p:spPr>
              <a:xfrm>
                <a:off x="4191000" y="40590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90</a:t>
                </a:r>
                <a:endParaRPr b="1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5619750" y="386125"/>
                <a:ext cx="1333500" cy="333300"/>
              </a:xfrm>
              <a:prstGeom prst="rect">
                <a:avLst/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6" name="Google Shape;236;p20"/>
              <p:cNvSpPr txBox="1"/>
              <p:nvPr/>
            </p:nvSpPr>
            <p:spPr>
              <a:xfrm>
                <a:off x="5619750" y="386125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102</a:t>
                </a:r>
                <a:endParaRPr b="1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7" name="Google Shape;237;p20"/>
            <p:cNvGrpSpPr/>
            <p:nvPr/>
          </p:nvGrpSpPr>
          <p:grpSpPr>
            <a:xfrm>
              <a:off x="0" y="2533650"/>
              <a:ext cx="6955800" cy="333300"/>
              <a:chOff x="0" y="361950"/>
              <a:chExt cx="6955800" cy="333300"/>
            </a:xfrm>
          </p:grpSpPr>
          <p:sp>
            <p:nvSpPr>
              <p:cNvPr id="238" name="Google Shape;238;p20"/>
              <p:cNvSpPr txBox="1"/>
              <p:nvPr/>
            </p:nvSpPr>
            <p:spPr>
              <a:xfrm>
                <a:off x="0" y="36195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Evaluate the result</a:t>
                </a:r>
                <a:endParaRPr sz="10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9" name="Google Shape;239;p20"/>
              <p:cNvSpPr/>
              <p:nvPr/>
            </p:nvSpPr>
            <p:spPr>
              <a:xfrm>
                <a:off x="2762900" y="380775"/>
                <a:ext cx="1333500" cy="267000"/>
              </a:xfrm>
              <a:prstGeom prst="rect">
                <a:avLst/>
              </a:prstGeom>
              <a:solidFill>
                <a:srgbClr val="60A5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" name="Google Shape;240;p20"/>
              <p:cNvSpPr txBox="1"/>
              <p:nvPr/>
            </p:nvSpPr>
            <p:spPr>
              <a:xfrm>
                <a:off x="2762900" y="402450"/>
                <a:ext cx="13335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38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1" name="Google Shape;241;p20"/>
              <p:cNvSpPr/>
              <p:nvPr/>
            </p:nvSpPr>
            <p:spPr>
              <a:xfrm>
                <a:off x="4192275" y="383250"/>
                <a:ext cx="1333500" cy="28590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2" name="Google Shape;242;p20"/>
              <p:cNvSpPr txBox="1"/>
              <p:nvPr/>
            </p:nvSpPr>
            <p:spPr>
              <a:xfrm>
                <a:off x="4192275" y="449850"/>
                <a:ext cx="1333500" cy="1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40</a:t>
                </a:r>
                <a:endParaRPr b="1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5622300" y="383250"/>
                <a:ext cx="1333500" cy="285900"/>
              </a:xfrm>
              <a:prstGeom prst="rect">
                <a:avLst/>
              </a:prstGeom>
              <a:solidFill>
                <a:srgbClr val="93C5F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4" name="Google Shape;244;p20"/>
              <p:cNvSpPr txBox="1"/>
              <p:nvPr/>
            </p:nvSpPr>
            <p:spPr>
              <a:xfrm>
                <a:off x="5619750" y="383550"/>
                <a:ext cx="13335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5" name="Google Shape;245;p20"/>
            <p:cNvGrpSpPr/>
            <p:nvPr/>
          </p:nvGrpSpPr>
          <p:grpSpPr>
            <a:xfrm>
              <a:off x="0" y="3122000"/>
              <a:ext cx="6953250" cy="333300"/>
              <a:chOff x="0" y="588350"/>
              <a:chExt cx="6953250" cy="3333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0" y="588350"/>
                <a:ext cx="26670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7" name="Google Shape;247;p20"/>
              <p:cNvSpPr txBox="1"/>
              <p:nvPr/>
            </p:nvSpPr>
            <p:spPr>
              <a:xfrm>
                <a:off x="0" y="58835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Total Effort</a:t>
                </a:r>
                <a:endParaRPr b="1" sz="10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8" name="Google Shape;248;p20"/>
              <p:cNvSpPr txBox="1"/>
              <p:nvPr/>
            </p:nvSpPr>
            <p:spPr>
              <a:xfrm>
                <a:off x="2762250" y="58835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245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9" name="Google Shape;249;p20"/>
              <p:cNvSpPr txBox="1"/>
              <p:nvPr/>
            </p:nvSpPr>
            <p:spPr>
              <a:xfrm>
                <a:off x="4191000" y="58835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245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0" name="Google Shape;250;p20"/>
              <p:cNvSpPr txBox="1"/>
              <p:nvPr/>
            </p:nvSpPr>
            <p:spPr>
              <a:xfrm>
                <a:off x="5619750" y="588350"/>
                <a:ext cx="1333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245</a:t>
                </a:r>
                <a:endParaRPr b="1" sz="11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51" name="Google Shape;251;p20"/>
          <p:cNvGrpSpPr/>
          <p:nvPr/>
        </p:nvGrpSpPr>
        <p:grpSpPr>
          <a:xfrm>
            <a:off x="7429500" y="1476375"/>
            <a:ext cx="1047750" cy="2505075"/>
            <a:chOff x="0" y="0"/>
            <a:chExt cx="1047750" cy="2505075"/>
          </a:xfrm>
        </p:grpSpPr>
        <p:pic>
          <p:nvPicPr>
            <p:cNvPr id="252" name="Google Shape;25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90500" cy="25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0"/>
            <p:cNvSpPr txBox="1"/>
            <p:nvPr/>
          </p:nvSpPr>
          <p:spPr>
            <a:xfrm>
              <a:off x="285750" y="0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100+ hrs</a:t>
              </a:r>
              <a:endPara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285750" y="23145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 hrs</a:t>
              </a:r>
              <a:endPara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 rot="5400000">
              <a:off x="4800" y="1157250"/>
              <a:ext cx="124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EFFORT INTENSITY</a:t>
              </a:r>
              <a:endParaRPr b="1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20"/>
          <p:cNvSpPr txBox="1"/>
          <p:nvPr/>
        </p:nvSpPr>
        <p:spPr>
          <a:xfrm>
            <a:off x="381000" y="4255100"/>
            <a:ext cx="2667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Research Paper</a:t>
            </a:r>
            <a:endParaRPr sz="10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144100" y="4343125"/>
            <a:ext cx="1333500" cy="24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b="1" sz="1100">
              <a:solidFill>
                <a:srgbClr val="1E293B"/>
              </a:solidFill>
              <a:highlight>
                <a:srgbClr val="93C5FD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573700" y="4346575"/>
            <a:ext cx="1333500" cy="24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6003300" y="4343000"/>
            <a:ext cx="1333500" cy="24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b="1" sz="11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81000" y="3297050"/>
            <a:ext cx="2667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Deciding on evaluation strategies</a:t>
            </a:r>
            <a:endParaRPr sz="10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3144100" y="3297050"/>
            <a:ext cx="1333500" cy="3333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1" sz="11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572000" y="3297050"/>
            <a:ext cx="1333500" cy="3333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1" sz="11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6000750" y="3297050"/>
            <a:ext cx="1333500" cy="3333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1" sz="11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/>
          <p:nvPr/>
        </p:nvSpPr>
        <p:spPr>
          <a:xfrm>
            <a:off x="0" y="-102755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0" y="95250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21"/>
          <p:cNvGrpSpPr/>
          <p:nvPr/>
        </p:nvGrpSpPr>
        <p:grpSpPr>
          <a:xfrm>
            <a:off x="762000" y="1714500"/>
            <a:ext cx="7620000" cy="1143000"/>
            <a:chOff x="-3810000" y="0"/>
            <a:chExt cx="7620000" cy="1143000"/>
          </a:xfrm>
        </p:grpSpPr>
        <p:sp>
          <p:nvSpPr>
            <p:cNvPr id="272" name="Google Shape;272;p21"/>
            <p:cNvSpPr txBox="1"/>
            <p:nvPr/>
          </p:nvSpPr>
          <p:spPr>
            <a:xfrm>
              <a:off x="-38100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  <a:endParaRPr b="1" sz="36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-3810000" y="76200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Questions? We'd love to hear from you.</a:t>
              </a:r>
              <a:endParaRPr b="0" sz="14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A clean, minimalist architectural pattern or professional abstract background texture in light grey and white." id="274" name="Google Shape;2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0" y="190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